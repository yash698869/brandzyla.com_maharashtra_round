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dbef01eb4941e2" /><Relationship Type="http://schemas.openxmlformats.org/officeDocument/2006/relationships/extended-properties" Target="/docProps/app.xml" Id="Rc42c599d9b904318" /><Relationship Type="http://schemas.openxmlformats.org/officeDocument/2006/relationships/officeDocument" Target="/ppt/presentation.xml" Id="R78563ef0b68b45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12910d634944f5"/>
  </p:sldMasterIdLst>
  <p:notesMasterIdLst>
    <p:notesMasterId xmlns:r="http://schemas.openxmlformats.org/officeDocument/2006/relationships" r:id="Ra07e50e80e3a4f67"/>
  </p:notesMasterIdLst>
  <p:sldIdLst>
    <p:sldId xmlns:r="http://schemas.openxmlformats.org/officeDocument/2006/relationships" id="256" r:id="Ra27bf961276a4986"/>
    <p:sldId xmlns:r="http://schemas.openxmlformats.org/officeDocument/2006/relationships" id="257" r:id="Ra84cb0e921904818"/>
    <p:sldId xmlns:r="http://schemas.openxmlformats.org/officeDocument/2006/relationships" id="258" r:id="Rc6b8de2663484154"/>
    <p:sldId xmlns:r="http://schemas.openxmlformats.org/officeDocument/2006/relationships" id="259" r:id="R1363a0f390b946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6733ed60d04e56" /><Relationship Type="http://schemas.openxmlformats.org/officeDocument/2006/relationships/slideMaster" Target="/ppt/slideMasters/slideMaster1.xml" Id="R9612910d634944f5" /><Relationship Type="http://schemas.openxmlformats.org/officeDocument/2006/relationships/notesMaster" Target="/ppt/notesMasters/notesMaster1.xml" Id="Ra07e50e80e3a4f67" /><Relationship Type="http://schemas.openxmlformats.org/officeDocument/2006/relationships/presProps" Target="/ppt/presProps.xml" Id="R4e2bdf4ed7c9436c" /><Relationship Type="http://schemas.openxmlformats.org/officeDocument/2006/relationships/tableStyles" Target="/ppt/tableStyles.xml" Id="R3bc5067bbc3f4a04" /><Relationship Type="http://schemas.openxmlformats.org/officeDocument/2006/relationships/slide" Target="/ppt/slides/slide1.xml" Id="Ra27bf961276a4986" /><Relationship Type="http://schemas.openxmlformats.org/officeDocument/2006/relationships/slide" Target="/ppt/slides/slide2.xml" Id="Ra84cb0e921904818" /><Relationship Type="http://schemas.openxmlformats.org/officeDocument/2006/relationships/slide" Target="/ppt/slides/slide3.xml" Id="Rc6b8de2663484154" /><Relationship Type="http://schemas.openxmlformats.org/officeDocument/2006/relationships/slide" Target="/ppt/slides/slide4.xml" Id="R1363a0f390b946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a496c3aed649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cbd47a42094c63" /><Relationship Type="http://schemas.openxmlformats.org/officeDocument/2006/relationships/notesMaster" Target="/ppt/notesMasters/notesMaster1.xml" Id="R46c69b9d142947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5f59e5617c4c60" /><Relationship Type="http://schemas.openxmlformats.org/officeDocument/2006/relationships/notesMaster" Target="/ppt/notesMasters/notesMaster1.xml" Id="R13495333139443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31cd428b084f80" /><Relationship Type="http://schemas.openxmlformats.org/officeDocument/2006/relationships/notesMaster" Target="/ppt/notesMasters/notesMaster1.xml" Id="Ra38bd494c59d4f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88e2ca6fdd4b0e" /><Relationship Type="http://schemas.openxmlformats.org/officeDocument/2006/relationships/notesMaster" Target="/ppt/notesMasters/notesMaster1.xml" Id="Rd28eabeb7d1749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Pitch: Digital inheritance has two failure modes: permanent lockout and premature disclosure. Heirloom protects the asset with client-side encryption and lets the beneficiary recover only after the smart-contract policy and two independent guardian approvals. Source: README.md and contracts/Heirloom.sol.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A dead-man timer is insufficient. In our contract, inactivity only makes a recovery request eligible. Two designated guardians must attest independently, and the owner can check in during the challenge window. Source: contracts/Heirloom.sol and docs/DEMO.md.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Explain: the encrypted asset and encrypted key shares are stored in the relay. The Solidity contract records eligibility, approvals, cancellation and finalization; it does not hold plaintext. Guardians must still verify incapacity outside the app. The local demo keeps all five actor identities in one browser for rehearsal; independent-device custody is next work. Two colluding guardians can combine shares privately. Source: src/lib/crypto.ts, server/index.mjs, contracts/Heirloom.sol,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npm run demo:check in a second terminal. It verifies chain 31337, five funded unlocked accounts, contract bytecode, deployment receipt, UI, relay and events. Then show the live app at http://127.0.0.1:5173 and follow docs/DEMO.md. Automated checks previously passed 25/25, and the production build passed. This is an ephemeral local EVM, not a public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2360033b074d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316b5512064514" /><Relationship Type="http://schemas.openxmlformats.org/officeDocument/2006/relationships/slideLayout" Target="/ppt/slideLayouts/slideLayout1.xml" Id="R8c135493aaeb4b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135493aaeb4b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c66dcabb449b0" /><Relationship Type="http://schemas.openxmlformats.org/officeDocument/2006/relationships/notesSlide" Target="/ppt/notesSlides/notesSlide1.xml" Id="Refe7f8c8738643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e5e2ce8ee4e60" /><Relationship Type="http://schemas.openxmlformats.org/officeDocument/2006/relationships/notesSlide" Target="/ppt/notesSlides/notesSlide2.xml" Id="R22e79a72ed9f46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35dfc2c1a498d" /><Relationship Type="http://schemas.openxmlformats.org/officeDocument/2006/relationships/notesSlide" Target="/ppt/notesSlides/notesSlide3.xml" Id="Rb2ac86cb289047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105e06ee44e6f" /><Relationship Type="http://schemas.openxmlformats.org/officeDocument/2006/relationships/notesSlide" Target="/ppt/notesSlides/notesSlide4.xml" Id="Rf74d853c6d9d47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FE8A5D-FD86-4521-ADF5-3C6905CD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322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3229"/>
                </a:solidFill>
                <a:latin typeface="Arial"/>
                <a:ea typeface="Arial"/>
                <a:cs typeface="Arial"/>
              </a:rPr>
              <a:t>heirloom.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E433D8-6DAF-494E-977D-BDA2D631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5811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4D7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54D7F"/>
                </a:solidFill>
                <a:latin typeface="Arial"/>
                <a:ea typeface="Arial"/>
                <a:cs typeface="Arial"/>
              </a:rPr>
              <a:t>DIGITAL INHERITANCE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F99968-2DE7-43C7-A13C-ED3BF5B2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90725"/>
            <a:ext cx="68580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0">
                <a:solidFill>
                  <a:srgbClr val="253229"/>
                </a:solidFill>
                <a:latin typeface="Georgia"/>
                <a:ea typeface="Georgia"/>
                <a:cs typeface="Georgia"/>
              </a:defRPr>
            </a:pPr>
            <a:r>
              <a:rPr sz="3975" b="0">
                <a:solidFill>
                  <a:srgbClr val="253229"/>
                </a:solidFill>
                <a:latin typeface="Georgia"/>
                <a:ea typeface="Georgia"/>
                <a:cs typeface="Georgia"/>
              </a:rPr>
              <a:t>Keep your secrets private.</a:t>
            </a:r>
          </a:p>
          <a:p xmlns:a="http://schemas.openxmlformats.org/drawingml/2006/main">
            <a:pPr algn="l">
              <a:defRPr sz="3975" b="0">
                <a:solidFill>
                  <a:srgbClr val="253229"/>
                </a:solidFill>
                <a:latin typeface="Georgia"/>
                <a:ea typeface="Georgia"/>
                <a:cs typeface="Georgia"/>
              </a:defRPr>
            </a:pPr>
            <a:r>
              <a:rPr sz="3975" b="0">
                <a:solidFill>
                  <a:srgbClr val="253229"/>
                </a:solidFill>
                <a:latin typeface="Georgia"/>
                <a:ea typeface="Georgia"/>
                <a:cs typeface="Georgia"/>
              </a:rPr>
              <a:t>Pass them on when it is time.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BED5A-72DF-405B-96E4-1CFE8932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0025"/>
            <a:ext cx="64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F6F6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F6F62"/>
                </a:solidFill>
                <a:latin typeface="Arial"/>
                <a:ea typeface="Arial"/>
                <a:cs typeface="Arial"/>
              </a:rPr>
              <a:t>A missed check-in opens a request. Two guardians must approve. The owner still has time to cancel.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74FAF-F019-4231-88A8-090D5F07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95350"/>
            <a:ext cx="3333750" cy="3333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1910F-D961-4CA2-BE0A-03727320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57625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CA07B2-E7F7-47C6-95E3-34E53743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8743950" y="2333625"/>
            <a:ext cx="923925" cy="1952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679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72ACB-61DE-4076-B17E-42B1F61D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667875" y="2333625"/>
            <a:ext cx="942975" cy="1952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679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3DECFA-29A8-4025-B314-48D04D63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716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80679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BFEDAE-F0B1-47B7-89CB-D69D2E0B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7716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80679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0BCAD7-168F-401E-BC20-C3DA6E8D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767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2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6D41F6-0B55-4BB2-921D-10EA1502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914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54D7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54D7F"/>
                </a:solidFill>
                <a:latin typeface="Arial"/>
                <a:ea typeface="Arial"/>
                <a:cs typeface="Arial"/>
              </a:rPr>
              <a:t>G1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D68938-2EBB-4EA5-A509-C529A5BC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000250"/>
            <a:ext cx="914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54D7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54D7F"/>
                </a:solidFill>
                <a:latin typeface="Arial"/>
                <a:ea typeface="Arial"/>
                <a:cs typeface="Arial"/>
              </a:rPr>
              <a:t>G2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601620-E972-407A-8A8A-F6D41946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14875"/>
            <a:ext cx="914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HEIR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28D2C2-24F0-4B6C-B036-50B2E4BA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91175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54D7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54D7F"/>
                </a:solidFill>
                <a:latin typeface="Arial"/>
                <a:ea typeface="Arial"/>
                <a:cs typeface="Arial"/>
              </a:rPr>
              <a:t>2 of 3 guardian shares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34A230-1111-436C-A541-B72DEFEF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47700" y="629602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258C5D-4080-44E1-A1EE-D883CAB2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91275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6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F62"/>
                </a:solidFill>
                <a:latin typeface="Arial"/>
                <a:ea typeface="Arial"/>
                <a:cs typeface="Arial"/>
              </a:rPr>
              <a:t>Heirloom · first round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052345-71C2-4A7F-853E-9BE8EB80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F6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F6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64418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70C22A-E6AE-4A29-BAD5-927EAF5F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253229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253229"/>
                </a:solidFill>
                <a:latin typeface="Georgia"/>
                <a:ea typeface="Georgia"/>
                <a:cs typeface="Georgia"/>
              </a:rPr>
              <a:t>The two failure modes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F0DB4-6059-460B-A7FC-644602EB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781175"/>
            <a:ext cx="123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0">
                <a:solidFill>
                  <a:srgbClr val="806797"/>
                </a:solidFill>
                <a:latin typeface="Arial"/>
                <a:ea typeface="Arial"/>
                <a:cs typeface="Arial"/>
              </a:defRPr>
            </a:pPr>
            <a:r>
              <a:rPr sz="4125" b="0">
                <a:solidFill>
                  <a:srgbClr val="80679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7BF67C-595B-4306-9641-D1A58865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322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3229"/>
                </a:solidFill>
                <a:latin typeface="Arial"/>
                <a:ea typeface="Arial"/>
                <a:cs typeface="Arial"/>
              </a:rPr>
              <a:t>Locked out forever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29F5E-3D95-43F9-B627-D1A0CB2D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81375"/>
            <a:ext cx="48101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F6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6F62"/>
                </a:solidFill>
                <a:latin typeface="Arial"/>
                <a:ea typeface="Arial"/>
                <a:cs typeface="Arial"/>
              </a:rPr>
              <a:t>Encrypted records and account instructions can disappear with the owner. A family may know the assets exist but have no safe way to recover them.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9AA6F-90E6-4C40-B895-3D8FBD5D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962650" y="1781175"/>
            <a:ext cx="0" cy="3171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6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C99ED1-B597-4BBF-AC01-ACA27D9E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781175"/>
            <a:ext cx="123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0">
                <a:solidFill>
                  <a:srgbClr val="806797"/>
                </a:solidFill>
                <a:latin typeface="Arial"/>
                <a:ea typeface="Arial"/>
                <a:cs typeface="Arial"/>
              </a:defRPr>
            </a:pPr>
            <a:r>
              <a:rPr sz="4125" b="0">
                <a:solidFill>
                  <a:srgbClr val="80679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FDF14A-BD9D-4E5E-B9EA-33249469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241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322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3229"/>
                </a:solidFill>
                <a:latin typeface="Arial"/>
                <a:ea typeface="Arial"/>
                <a:cs typeface="Arial"/>
              </a:rPr>
              <a:t>Released too early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431DED-A11F-4FAF-9265-7B85AB35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381375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F6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6F62"/>
                </a:solidFill>
                <a:latin typeface="Arial"/>
                <a:ea typeface="Arial"/>
                <a:cs typeface="Arial"/>
              </a:rPr>
              <a:t>A timer alone can expose sensitive information while the owner is still available. One platform or guardian must not be able to decide alone.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4FE49-52A5-4629-BCC7-B07AD8AB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14950"/>
            <a:ext cx="1085850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2532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F0D08C-F977-4C57-818D-213D2E1E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483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Heirloom requires elapsed time + two approvals + an owner cancellation window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55C262-0801-4343-8BE4-EE37D1CF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47700" y="629602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893096-4BBA-4144-8014-DFDC414E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91275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6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F62"/>
                </a:solidFill>
                <a:latin typeface="Arial"/>
                <a:ea typeface="Arial"/>
                <a:cs typeface="Arial"/>
              </a:rPr>
              <a:t>Heirloom · first round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B1661-459B-46FC-93F3-55C5376C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F6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F6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325718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536D12-2C4D-4F81-B300-271DB61C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253229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253229"/>
                </a:solidFill>
                <a:latin typeface="Georgia"/>
                <a:ea typeface="Georgia"/>
                <a:cs typeface="Georgia"/>
              </a:rPr>
              <a:t>How recovery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21FFA-687F-4371-B9F0-96815B46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8288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61E5BB-4D4A-42E9-8ED7-8D9A2368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62150"/>
            <a:ext cx="800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654D7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654D7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56D05-66CA-49B8-8A87-F079B8B6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322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3229"/>
                </a:solidFill>
                <a:latin typeface="Arial"/>
                <a:ea typeface="Arial"/>
                <a:cs typeface="Arial"/>
              </a:rPr>
              <a:t>Encrypt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9AFA6-B2D3-4A32-AF27-74C4B8ED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809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F6F6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F62"/>
                </a:solidFill>
                <a:latin typeface="Arial"/>
                <a:ea typeface="Arial"/>
                <a:cs typeface="Arial"/>
              </a:rPr>
              <a:t>The asset is encrypted on the owner’s device.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0CD18-923F-40A7-9A81-F713CAD5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8288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B8413-4EFF-4766-9B64-B661262C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962150"/>
            <a:ext cx="800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654D7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654D7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FB761B-B7B9-4C31-A0F3-41515B14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527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322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3229"/>
                </a:solidFill>
                <a:latin typeface="Arial"/>
                <a:ea typeface="Arial"/>
                <a:cs typeface="Arial"/>
              </a:rPr>
              <a:t>Split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EDCAC9-E05C-4593-841F-CCC39CDB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24250"/>
            <a:ext cx="1809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F6F6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F62"/>
                </a:solidFill>
                <a:latin typeface="Arial"/>
                <a:ea typeface="Arial"/>
                <a:cs typeface="Arial"/>
              </a:rPr>
              <a:t>Its key becomes three encrypted shares.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517373-888F-4141-8AEF-FAF7091B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18288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1D7BFE-16AF-4811-BDF8-39870DD6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1962150"/>
            <a:ext cx="800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654D7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654D7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549CFD-0DE7-4144-8E97-97FDB13F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527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322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3229"/>
                </a:solidFill>
                <a:latin typeface="Arial"/>
                <a:ea typeface="Arial"/>
                <a:cs typeface="Arial"/>
              </a:rPr>
              <a:t>Authorize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E4CAA0-37CC-43BE-BE64-856FF811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24250"/>
            <a:ext cx="1809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F6F6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F62"/>
                </a:solidFill>
                <a:latin typeface="Arial"/>
                <a:ea typeface="Arial"/>
                <a:cs typeface="Arial"/>
              </a:rPr>
              <a:t>The contract checks inactivity and 2 of 3 approvals.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EB0654-3D98-4087-A4A5-079572E1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8288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D1678B-C568-43EA-8845-B291727E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962150"/>
            <a:ext cx="800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654D7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654D7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D41541-2E2B-411F-A0CC-FD728C09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527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322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3229"/>
                </a:solidFill>
                <a:latin typeface="Arial"/>
                <a:ea typeface="Arial"/>
                <a:cs typeface="Arial"/>
              </a:rPr>
              <a:t>Intervene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13F067-8812-4E80-94DF-F17FB803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24250"/>
            <a:ext cx="1809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F6F6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F62"/>
                </a:solidFill>
                <a:latin typeface="Arial"/>
                <a:ea typeface="Arial"/>
                <a:cs typeface="Arial"/>
              </a:rPr>
              <a:t>The owner can cancel during the challenge window.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1DAC1E-2EFC-4459-89AE-C79B5FA9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18288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C63AEC-BEE8-4734-9664-E481F042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1962150"/>
            <a:ext cx="800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654D7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654D7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00BE98-8774-46DE-B344-DDD68F7C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527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322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3229"/>
                </a:solidFill>
                <a:latin typeface="Arial"/>
                <a:ea typeface="Arial"/>
                <a:cs typeface="Arial"/>
              </a:rPr>
              <a:t>Decrypt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7136B3-716D-4C32-9415-0161FC9E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24250"/>
            <a:ext cx="1809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F6F6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F62"/>
                </a:solidFill>
                <a:latin typeface="Arial"/>
                <a:ea typeface="Arial"/>
                <a:cs typeface="Arial"/>
              </a:rPr>
              <a:t>The beneficiary combines two shares locally.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328B65-1B43-444A-B46F-59A68DB6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533650" y="222885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679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FC6447-72BA-4C2B-8277-F63B2CAE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705350" y="222885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679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46A63A-979C-4279-BC7D-D8E978DE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877050" y="222885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679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41374C-A042-4EF1-B2A5-6C6323B3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048750" y="222885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679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64A626-CF3C-4455-8838-00587139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38750"/>
            <a:ext cx="10829925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DDE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646C66-F723-4496-BAE6-07725180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362575"/>
            <a:ext cx="10315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C68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C684A"/>
                </a:solidFill>
                <a:latin typeface="Arial"/>
                <a:ea typeface="Arial"/>
                <a:cs typeface="Arial"/>
              </a:rPr>
              <a:t>Relay ciphertext and any one guardian share are insufficient to decrypt.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AAD7A5-2488-4FB5-8D00-3F77CB70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47700" y="629602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2E1889-AF1C-4D0D-A294-0EC0B27A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91275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6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F62"/>
                </a:solidFill>
                <a:latin typeface="Arial"/>
                <a:ea typeface="Arial"/>
                <a:cs typeface="Arial"/>
              </a:rPr>
              <a:t>Heirloom · first round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36D289-9658-4757-91B4-478D5CAC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F6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F6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671544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BD78D6-67A6-45F7-A52E-2502E9F2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253229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253229"/>
                </a:solidFill>
                <a:latin typeface="Georgia"/>
                <a:ea typeface="Georgia"/>
                <a:cs typeface="Georgia"/>
              </a:rPr>
              <a:t>Live proof on Hardhat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B4751-D5DF-45EC-9B8C-854E50B5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5335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54D7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54D7F"/>
                </a:solidFill>
                <a:latin typeface="Arial"/>
                <a:ea typeface="Arial"/>
                <a:cs typeface="Arial"/>
              </a:rPr>
              <a:t>Run before judging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6C19F-6389-4D63-8ED7-FCF9E3D0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5048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2532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1341A-1309-44E9-B081-4243EAF3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$ npm run demo:check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3A172D-EE77-4264-AF49-946843AA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67025"/>
            <a:ext cx="4381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DE9D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DE9D5"/>
                </a:solidFill>
                <a:latin typeface="Arial"/>
                <a:ea typeface="Arial"/>
                <a:cs typeface="Arial"/>
              </a:rPr>
              <a:t>Chain 31337</a:t>
            </a:r>
          </a:p>
          <a:p xmlns:a="http://schemas.openxmlformats.org/drawingml/2006/main">
            <a:pPr algn="l">
              <a:defRPr sz="1800" b="0">
                <a:solidFill>
                  <a:srgbClr val="DDE9D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DE9D5"/>
                </a:solidFill>
                <a:latin typeface="Arial"/>
                <a:ea typeface="Arial"/>
                <a:cs typeface="Arial"/>
              </a:rPr>
              <a:t>5 funded local wallets</a:t>
            </a:r>
          </a:p>
          <a:p xmlns:a="http://schemas.openxmlformats.org/drawingml/2006/main">
            <a:pPr algn="l">
              <a:defRPr sz="1800" b="0">
                <a:solidFill>
                  <a:srgbClr val="DDE9D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DE9D5"/>
                </a:solidFill>
                <a:latin typeface="Arial"/>
                <a:ea typeface="Arial"/>
                <a:cs typeface="Arial"/>
              </a:rPr>
              <a:t>Deployed Solidity contract</a:t>
            </a:r>
          </a:p>
          <a:p xmlns:a="http://schemas.openxmlformats.org/drawingml/2006/main">
            <a:pPr algn="l">
              <a:defRPr sz="1800" b="0">
                <a:solidFill>
                  <a:srgbClr val="DDE9D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DE9D5"/>
                </a:solidFill>
                <a:latin typeface="Arial"/>
                <a:ea typeface="Arial"/>
                <a:cs typeface="Arial"/>
              </a:rPr>
              <a:t>Confirmed deployment receipt</a:t>
            </a:r>
          </a:p>
          <a:p xmlns:a="http://schemas.openxmlformats.org/drawingml/2006/main">
            <a:pPr algn="l">
              <a:defRPr sz="1800" b="0">
                <a:solidFill>
                  <a:srgbClr val="DDE9D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DE9D5"/>
                </a:solidFill>
                <a:latin typeface="Arial"/>
                <a:ea typeface="Arial"/>
                <a:cs typeface="Arial"/>
              </a:rPr>
              <a:t>Contract event history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D5929-2BE9-4760-93F9-58738CD3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533525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54D7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54D7F"/>
                </a:solidFill>
                <a:latin typeface="Arial"/>
                <a:ea typeface="Arial"/>
                <a:cs typeface="Arial"/>
              </a:rPr>
              <a:t>Show in the 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857E6B-6DF5-4D60-AF2F-79A3A080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47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98056-84BA-498E-A4F3-0E1896C4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76450"/>
            <a:ext cx="323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C68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C684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4CDF6B-C777-43CF-87D6-4070D6C8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193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322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3229"/>
                </a:solidFill>
                <a:latin typeface="Arial"/>
                <a:ea typeface="Arial"/>
                <a:cs typeface="Arial"/>
              </a:rPr>
              <a:t>Early recovery request rejected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C4EA6-E797-40EE-81DA-82EAEFAF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193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5E2EC-CE91-4079-9752-8BED0F36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47950"/>
            <a:ext cx="323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C68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C684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42F9F9-F2AA-4DB4-A8ED-841132F6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908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322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3229"/>
                </a:solidFill>
                <a:latin typeface="Arial"/>
                <a:ea typeface="Arial"/>
                <a:cs typeface="Arial"/>
              </a:rPr>
              <a:t>Two guardians approve; third remains unavailable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260D6C-EC5B-4BEB-A7B6-C79040F7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190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103337-8F9A-418B-9517-3243442F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219450"/>
            <a:ext cx="323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C68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C684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E231D1-DDFD-427E-B493-2D27F334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623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322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3229"/>
                </a:solidFill>
                <a:latin typeface="Arial"/>
                <a:ea typeface="Arial"/>
                <a:cs typeface="Arial"/>
              </a:rPr>
              <a:t>Owner cancellation window enforced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A003E9-E307-4302-9BC5-BAA18F8D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7623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A7EAAF-7586-41B9-B7A6-A6CF2354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790950"/>
            <a:ext cx="323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C68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C684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FDF5ED-524B-4EAE-8928-2E1274F1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338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322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3229"/>
                </a:solidFill>
                <a:latin typeface="Arial"/>
                <a:ea typeface="Arial"/>
                <a:cs typeface="Arial"/>
              </a:rPr>
              <a:t>Beneficiary decrypts the exact original 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5336C8-0963-4029-8DF4-395ED1D1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333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7EF7A8-AEE1-4604-BE4C-09C746FE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362450"/>
            <a:ext cx="323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C68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C684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784F6D-0D48-45E6-8E06-C277F323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053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322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3229"/>
                </a:solidFill>
                <a:latin typeface="Arial"/>
                <a:ea typeface="Arial"/>
                <a:cs typeface="Arial"/>
              </a:rPr>
              <a:t>Transaction receipt, block and gas shown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AE2845-0B24-41F0-AF91-E30F4E2B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85850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EAE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01DF63-E965-459F-B0BF-8A58120B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48300"/>
            <a:ext cx="1033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54D7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4D7F"/>
                </a:solidFill>
                <a:latin typeface="Arial"/>
                <a:ea typeface="Arial"/>
                <a:cs typeface="Arial"/>
              </a:rPr>
              <a:t>Prototype proof is on a local chain. Public explorer links require testnet deployment.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59A36F-B51F-4CBA-A9FB-979908E3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47700" y="629602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868616-9511-4FBF-A3E5-C2E7766B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91275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6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F62"/>
                </a:solidFill>
                <a:latin typeface="Arial"/>
                <a:ea typeface="Arial"/>
                <a:cs typeface="Arial"/>
              </a:rPr>
              <a:t>Heirloom · first round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7CB3BF-704A-43C2-9537-00D01FE7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F6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F6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110484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2026-10-03T14:15:02.8800000Z</dcterms:created>
  <dcterms:modified xsi:type="dcterms:W3CDTF">2026-10-03T14:15:02.8800000Z</dcterms:modified>
</coreProperties>
</file>